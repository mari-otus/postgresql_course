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9" r:id="rId1"/>
    <p:sldMasterId id="2147483680" r:id="rId2"/>
    <p:sldMasterId id="2147483681" r:id="rId3"/>
  </p:sldMasterIdLst>
  <p:notesMasterIdLst>
    <p:notesMasterId r:id="rId2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300" r:id="rId11"/>
    <p:sldId id="304" r:id="rId12"/>
    <p:sldId id="301" r:id="rId13"/>
    <p:sldId id="299" r:id="rId14"/>
    <p:sldId id="302" r:id="rId15"/>
    <p:sldId id="303" r:id="rId16"/>
    <p:sldId id="263" r:id="rId17"/>
    <p:sldId id="264" r:id="rId18"/>
    <p:sldId id="265" r:id="rId19"/>
    <p:sldId id="266" r:id="rId2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397">
          <p15:clr>
            <a:srgbClr val="9AA0A6"/>
          </p15:clr>
        </p15:guide>
        <p15:guide id="3" orient="horz" pos="3240">
          <p15:clr>
            <a:srgbClr val="9AA0A6"/>
          </p15:clr>
        </p15:guide>
        <p15:guide id="4" orient="horz">
          <p15:clr>
            <a:srgbClr val="747775"/>
          </p15:clr>
        </p15:guide>
        <p15:guide id="5" orient="horz" pos="51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099BBEC-C64B-4CD6-9D29-9A80A5BBAEBE}">
  <a:tblStyle styleId="{E099BBEC-C64B-4CD6-9D29-9A80A5BBAEB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101"/>
      </p:cViewPr>
      <p:guideLst>
        <p:guide pos="5533"/>
        <p:guide pos="397"/>
        <p:guide orient="horz" pos="3240"/>
        <p:guide orient="horz"/>
        <p:guide orient="horz" pos="51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ce85d903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ce85d903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0f7d84ce1d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0f7d84ce1d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f7d84ce1d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0f7d84ce1d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f98075b25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f98075b259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98075b25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98075b25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82215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05155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23739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8204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32391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31403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104438fca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104438fca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0f7d84ce1d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0f7d84ce1d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41727d1ac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41727d1ac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sz="16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лок текст + картинка" type="title">
  <p:cSld name="TITL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495300" y="1493850"/>
            <a:ext cx="4424100" cy="21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pic>
        <p:nvPicPr>
          <p:cNvPr id="71" name="Google Shape;7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83625" y="843000"/>
            <a:ext cx="3457500" cy="34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47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итата, фон градиент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4350" y="1999200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этапы процесса">
  <p:cSld name="CUSTOM_5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77" name="Google Shape;7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22851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8" name="Google Shape;7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8289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9" name="Google Shape;7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7615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80" name="Google Shape;8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7001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81" name="Google Shape;81;p19"/>
          <p:cNvSpPr txBox="1"/>
          <p:nvPr/>
        </p:nvSpPr>
        <p:spPr>
          <a:xfrm>
            <a:off x="121300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9"/>
          <p:cNvSpPr txBox="1"/>
          <p:nvPr/>
        </p:nvSpPr>
        <p:spPr>
          <a:xfrm>
            <a:off x="3058443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9"/>
          <p:cNvSpPr txBox="1"/>
          <p:nvPr/>
        </p:nvSpPr>
        <p:spPr>
          <a:xfrm>
            <a:off x="4817770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9"/>
          <p:cNvSpPr txBox="1"/>
          <p:nvPr/>
        </p:nvSpPr>
        <p:spPr>
          <a:xfrm>
            <a:off x="663715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9"/>
          <p:cNvSpPr txBox="1"/>
          <p:nvPr/>
        </p:nvSpPr>
        <p:spPr>
          <a:xfrm>
            <a:off x="98290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9"/>
          <p:cNvSpPr txBox="1"/>
          <p:nvPr/>
        </p:nvSpPr>
        <p:spPr>
          <a:xfrm>
            <a:off x="2828343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9"/>
          <p:cNvSpPr txBox="1"/>
          <p:nvPr/>
        </p:nvSpPr>
        <p:spPr>
          <a:xfrm>
            <a:off x="4587670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9"/>
          <p:cNvSpPr txBox="1"/>
          <p:nvPr/>
        </p:nvSpPr>
        <p:spPr>
          <a:xfrm>
            <a:off x="640705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исок в 2 колонки ">
  <p:cSld name="CUSTOM_8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1" name="Google Shape;91;p20"/>
          <p:cNvGraphicFramePr/>
          <p:nvPr/>
        </p:nvGraphicFramePr>
        <p:xfrm>
          <a:off x="655650" y="174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{E099BBEC-C64B-4CD6-9D29-9A80A5BBAEBE}</a:tableStyleId>
              </a:tblPr>
              <a:tblGrid>
                <a:gridCol w="38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9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 Описание эксперимента</a:t>
                      </a:r>
                      <a:r>
                        <a:rPr lang="ru" sz="1700" b="1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 Технические детали</a:t>
                      </a:r>
                      <a:endParaRPr sz="17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175">
                <a:tc>
                  <a:txBody>
                    <a:bodyPr/>
                    <a:lstStyle/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Гипотеза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Целевая аудитория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Ожидаемый результат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Roboto"/>
                        <a:buChar char="●"/>
                      </a:pPr>
                      <a:r>
                        <a:rPr lang="ru" sz="17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Реализация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Настройки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Метрики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сылка на источник" type="twoColTx">
  <p:cSld name="TITLE_AND_TWO_COLUMN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/>
        </p:nvSpPr>
        <p:spPr>
          <a:xfrm>
            <a:off x="556300" y="4554000"/>
            <a:ext cx="4239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добавьте ссылку на источник</a:t>
            </a:r>
            <a:endParaRPr sz="110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подтемой">
  <p:cSld name="MAIN_POIN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аблица ">
  <p:cSld name="CUSTOM_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8" name="Google Shape;98;p23"/>
          <p:cNvGraphicFramePr/>
          <p:nvPr/>
        </p:nvGraphicFramePr>
        <p:xfrm>
          <a:off x="608700" y="1593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{E099BBEC-C64B-4CD6-9D29-9A80A5BBAEBE}</a:tableStyleId>
              </a:tblPr>
              <a:tblGrid>
                <a:gridCol w="39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7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6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rgbClr val="4811C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плашки + иллюстрация">
  <p:cSld name="SECTION_TITLE_AND_DESCRI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01" name="Google Shape;101;p24"/>
          <p:cNvSpPr/>
          <p:nvPr/>
        </p:nvSpPr>
        <p:spPr>
          <a:xfrm>
            <a:off x="791625" y="1039150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24"/>
          <p:cNvSpPr/>
          <p:nvPr/>
        </p:nvSpPr>
        <p:spPr>
          <a:xfrm>
            <a:off x="791625" y="1904882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24"/>
          <p:cNvSpPr/>
          <p:nvPr/>
        </p:nvSpPr>
        <p:spPr>
          <a:xfrm>
            <a:off x="791625" y="2770607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24"/>
          <p:cNvSpPr/>
          <p:nvPr/>
        </p:nvSpPr>
        <p:spPr>
          <a:xfrm>
            <a:off x="791625" y="3636339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5" name="Google Shape;10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33900" y="1409075"/>
            <a:ext cx="2468700" cy="2468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блока">
  <p:cSld name="CUSTOM_7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6"/>
          <p:cNvSpPr/>
          <p:nvPr/>
        </p:nvSpPr>
        <p:spPr>
          <a:xfrm>
            <a:off x="932713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3436420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5940127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26"/>
          <p:cNvSpPr txBox="1"/>
          <p:nvPr/>
        </p:nvSpPr>
        <p:spPr>
          <a:xfrm>
            <a:off x="1073575" y="2074863"/>
            <a:ext cx="1846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 sz="1100"/>
          </a:p>
        </p:txBody>
      </p:sp>
      <p:sp>
        <p:nvSpPr>
          <p:cNvPr id="114" name="Google Shape;114;p26"/>
          <p:cNvSpPr txBox="1"/>
          <p:nvPr/>
        </p:nvSpPr>
        <p:spPr>
          <a:xfrm>
            <a:off x="3530920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  <p:sp>
        <p:nvSpPr>
          <p:cNvPr id="115" name="Google Shape;115;p26"/>
          <p:cNvSpPr txBox="1"/>
          <p:nvPr/>
        </p:nvSpPr>
        <p:spPr>
          <a:xfrm>
            <a:off x="6080975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жный тезис крупным шрифтом " type="secHead">
  <p:cSld name="SECTION_HEADER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>
            <a:spLocks noGrp="1"/>
          </p:cNvSpPr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2" name="Google Shape;122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.png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5">
            <a:alphaModFix/>
          </a:blip>
          <a:stretch>
            <a:fillRect/>
          </a:stretch>
        </a:blip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8" name="Google Shape;118;p27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9" name="Google Shape;119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ri-otus/postgreSQL_course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5"/>
          <p:cNvPicPr preferRelativeResize="0"/>
          <p:nvPr/>
        </p:nvPicPr>
        <p:blipFill rotWithShape="1">
          <a:blip r:embed="rId3">
            <a:alphaModFix/>
          </a:blip>
          <a:srcRect l="18598" r="18591"/>
          <a:stretch/>
        </p:blipFill>
        <p:spPr>
          <a:xfrm>
            <a:off x="-75950" y="-3216975"/>
            <a:ext cx="9408753" cy="836047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5"/>
          <p:cNvSpPr txBox="1"/>
          <p:nvPr/>
        </p:nvSpPr>
        <p:spPr>
          <a:xfrm>
            <a:off x="433125" y="1534950"/>
            <a:ext cx="7584300" cy="1735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ru-RU" sz="28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Построение PIVOT-запроса в </a:t>
            </a:r>
            <a:r>
              <a:rPr lang="ru-RU" sz="2800" b="1" dirty="0" err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PostgreSQL</a:t>
            </a:r>
            <a:r>
              <a:rPr lang="ru-RU" sz="28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для неопределенного количества столбцов и оптимизация запросов к полученному PIVOT-преобразованию</a:t>
            </a:r>
            <a:endParaRPr sz="2800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8" name="Google Shape;14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3700" y="268875"/>
            <a:ext cx="822175" cy="2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5"/>
          <p:cNvSpPr/>
          <p:nvPr/>
        </p:nvSpPr>
        <p:spPr>
          <a:xfrm>
            <a:off x="629700" y="4138025"/>
            <a:ext cx="2920500" cy="42660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35"/>
          <p:cNvSpPr txBox="1"/>
          <p:nvPr/>
        </p:nvSpPr>
        <p:spPr>
          <a:xfrm>
            <a:off x="822254" y="4092808"/>
            <a:ext cx="2664151" cy="517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ru-RU" sz="1200" dirty="0" err="1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PostgreSQL</a:t>
            </a:r>
            <a:r>
              <a:rPr lang="ru-RU" sz="1200" dirty="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 для администраторов баз данных и разработчиков</a:t>
            </a:r>
            <a:endParaRPr sz="1200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51" name="Google Shape;15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09723" y="3083693"/>
            <a:ext cx="1548451" cy="16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6"/>
          <p:cNvSpPr txBox="1">
            <a:spLocks noGrp="1"/>
          </p:cNvSpPr>
          <p:nvPr>
            <p:ph type="title"/>
          </p:nvPr>
        </p:nvSpPr>
        <p:spPr>
          <a:xfrm>
            <a:off x="744125" y="1415974"/>
            <a:ext cx="7935300" cy="14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>
                <a:solidFill>
                  <a:schemeClr val="dk1"/>
                </a:solidFill>
              </a:rPr>
              <a:t>Меня хорошо видно</a:t>
            </a:r>
            <a:endParaRPr sz="4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>
                <a:solidFill>
                  <a:schemeClr val="dk1"/>
                </a:solidFill>
              </a:rPr>
              <a:t>&amp; слышно?</a:t>
            </a:r>
            <a:endParaRPr sz="4000">
              <a:solidFill>
                <a:schemeClr val="dk1"/>
              </a:solidFill>
            </a:endParaRPr>
          </a:p>
        </p:txBody>
      </p:sp>
      <p:pic>
        <p:nvPicPr>
          <p:cNvPr id="157" name="Google Shape;15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4062" y="3841075"/>
            <a:ext cx="545712" cy="545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575" y="3890890"/>
            <a:ext cx="537262" cy="537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7"/>
          <p:cNvSpPr txBox="1">
            <a:spLocks noGrp="1"/>
          </p:cNvSpPr>
          <p:nvPr>
            <p:ph type="title"/>
          </p:nvPr>
        </p:nvSpPr>
        <p:spPr>
          <a:xfrm>
            <a:off x="500550" y="313624"/>
            <a:ext cx="8520600" cy="18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 dirty="0"/>
              <a:t>Защита проекта</a:t>
            </a:r>
            <a:endParaRPr sz="3000" dirty="0"/>
          </a:p>
          <a:p>
            <a:pPr lvl="0">
              <a:buSzPts val="1100"/>
            </a:pPr>
            <a:r>
              <a:rPr lang="ru" sz="3000" dirty="0"/>
              <a:t>Тема: </a:t>
            </a:r>
            <a:r>
              <a:rPr lang="ru-RU" sz="2000" dirty="0"/>
              <a:t>Построение PIVOT-запроса в </a:t>
            </a:r>
            <a:r>
              <a:rPr lang="ru-RU" sz="2000" dirty="0" err="1"/>
              <a:t>PostgreSQL</a:t>
            </a:r>
            <a:r>
              <a:rPr lang="ru-RU" sz="2000" dirty="0"/>
              <a:t> для неопределенного количества столбцов и оптимизация запросов к полученному PIVOT-преобразованию</a:t>
            </a:r>
            <a:br>
              <a:rPr lang="ru-RU" sz="3000" dirty="0"/>
            </a:b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5" name="Google Shape;165;p37"/>
          <p:cNvSpPr txBox="1"/>
          <p:nvPr/>
        </p:nvSpPr>
        <p:spPr>
          <a:xfrm>
            <a:off x="3899475" y="2336401"/>
            <a:ext cx="3701700" cy="3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00" b="1" dirty="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Тронина Мария</a:t>
            </a:r>
            <a:endParaRPr sz="2300" b="1" dirty="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37"/>
          <p:cNvSpPr txBox="1"/>
          <p:nvPr/>
        </p:nvSpPr>
        <p:spPr>
          <a:xfrm>
            <a:off x="3899475" y="2893375"/>
            <a:ext cx="3193200" cy="424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latin typeface="Roboto Medium"/>
                <a:ea typeface="Roboto Medium"/>
                <a:cs typeface="Roboto Medium"/>
                <a:sym typeface="Roboto Medium"/>
              </a:rPr>
              <a:t>Java backend-</a:t>
            </a:r>
            <a:r>
              <a:rPr lang="ru-RU" sz="1300" dirty="0">
                <a:latin typeface="Roboto Medium"/>
                <a:ea typeface="Roboto Medium"/>
                <a:cs typeface="Roboto Medium"/>
                <a:sym typeface="Roboto Medium"/>
              </a:rPr>
              <a:t>разработчик</a:t>
            </a:r>
            <a:endParaRPr sz="1300" dirty="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8"/>
          <p:cNvSpPr txBox="1">
            <a:spLocks noGrp="1"/>
          </p:cNvSpPr>
          <p:nvPr>
            <p:ph type="title"/>
          </p:nvPr>
        </p:nvSpPr>
        <p:spPr>
          <a:xfrm>
            <a:off x="538550" y="348974"/>
            <a:ext cx="85206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План защиты</a:t>
            </a:r>
            <a:endParaRPr/>
          </a:p>
        </p:txBody>
      </p:sp>
      <p:sp>
        <p:nvSpPr>
          <p:cNvPr id="172" name="Google Shape;172;p38"/>
          <p:cNvSpPr/>
          <p:nvPr/>
        </p:nvSpPr>
        <p:spPr>
          <a:xfrm>
            <a:off x="1138125" y="149130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Цель и задачи проекта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38"/>
          <p:cNvSpPr/>
          <p:nvPr/>
        </p:nvSpPr>
        <p:spPr>
          <a:xfrm>
            <a:off x="1138125" y="207149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Какие технологии использовались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38"/>
          <p:cNvSpPr/>
          <p:nvPr/>
        </p:nvSpPr>
        <p:spPr>
          <a:xfrm>
            <a:off x="1138125" y="2651676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получилось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38"/>
          <p:cNvSpPr/>
          <p:nvPr/>
        </p:nvSpPr>
        <p:spPr>
          <a:xfrm>
            <a:off x="1138125" y="324622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Выводы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6" name="Google Shape;176;p38"/>
          <p:cNvCxnSpPr>
            <a:stCxn id="172" idx="1"/>
            <a:endCxn id="173" idx="1"/>
          </p:cNvCxnSpPr>
          <p:nvPr/>
        </p:nvCxnSpPr>
        <p:spPr>
          <a:xfrm>
            <a:off x="1138125" y="167940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7" name="Google Shape;177;p38"/>
          <p:cNvCxnSpPr>
            <a:stCxn id="173" idx="1"/>
            <a:endCxn id="174" idx="1"/>
          </p:cNvCxnSpPr>
          <p:nvPr/>
        </p:nvCxnSpPr>
        <p:spPr>
          <a:xfrm>
            <a:off x="1138125" y="225959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8" name="Google Shape;178;p38"/>
          <p:cNvCxnSpPr>
            <a:stCxn id="174" idx="1"/>
            <a:endCxn id="175" idx="1"/>
          </p:cNvCxnSpPr>
          <p:nvPr/>
        </p:nvCxnSpPr>
        <p:spPr>
          <a:xfrm>
            <a:off x="1138125" y="2839776"/>
            <a:ext cx="600" cy="5946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9" name="Google Shape;179;p38"/>
          <p:cNvCxnSpPr>
            <a:stCxn id="175" idx="1"/>
            <a:endCxn id="180" idx="1"/>
          </p:cNvCxnSpPr>
          <p:nvPr/>
        </p:nvCxnSpPr>
        <p:spPr>
          <a:xfrm>
            <a:off x="1138125" y="3434325"/>
            <a:ext cx="600" cy="5268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0" name="Google Shape;180;p38"/>
          <p:cNvSpPr/>
          <p:nvPr/>
        </p:nvSpPr>
        <p:spPr>
          <a:xfrm>
            <a:off x="1138137" y="377287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9"/>
          <p:cNvSpPr txBox="1"/>
          <p:nvPr/>
        </p:nvSpPr>
        <p:spPr>
          <a:xfrm>
            <a:off x="560500" y="324881"/>
            <a:ext cx="8520600" cy="13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Цел</a:t>
            </a:r>
            <a:r>
              <a:rPr lang="ru" sz="3000" b="1">
                <a:latin typeface="Roboto"/>
                <a:ea typeface="Roboto"/>
                <a:cs typeface="Roboto"/>
                <a:sym typeface="Roboto"/>
              </a:rPr>
              <a:t>ь и задачи</a:t>
            </a:r>
            <a:r>
              <a:rPr lang="ru" sz="3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проекта</a:t>
            </a:r>
            <a:endParaRPr sz="3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86" name="Google Shape;186;p39"/>
          <p:cNvGraphicFramePr/>
          <p:nvPr>
            <p:extLst>
              <p:ext uri="{D42A27DB-BD31-4B8C-83A1-F6EECF244321}">
                <p14:modId xmlns:p14="http://schemas.microsoft.com/office/powerpoint/2010/main" val="454517184"/>
              </p:ext>
            </p:extLst>
          </p:nvPr>
        </p:nvGraphicFramePr>
        <p:xfrm>
          <a:off x="952500" y="2382125"/>
          <a:ext cx="7239000" cy="2372147"/>
        </p:xfrm>
        <a:graphic>
          <a:graphicData uri="http://schemas.openxmlformats.org/drawingml/2006/table">
            <a:tbl>
              <a:tblPr>
                <a:noFill/>
                <a:tableStyleId>{E099BBEC-C64B-4CD6-9D29-9A80A5BBAEBE}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Проанализировать разные подходы к построению PIVOT-преобразований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Оптимизировать запросы к выбранным PIVOT-преобразованиям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Провести сравнительный анализ работы с выбранными PIVOT-преобразованиями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Выбрать наиболее подходящее решение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7" name="Google Shape;187;p39"/>
          <p:cNvSpPr/>
          <p:nvPr/>
        </p:nvSpPr>
        <p:spPr>
          <a:xfrm>
            <a:off x="1628250" y="1386300"/>
            <a:ext cx="5887500" cy="662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Цель проекта: </a:t>
            </a:r>
            <a:r>
              <a:rPr lang="ru-RU" sz="15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реализовать оптимальный запрос к данным с динамически изменяющимся составом атрибутов </a:t>
            </a:r>
            <a:endParaRPr lang="ru-RU" sz="1500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Какие технологии использовались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graphicFrame>
        <p:nvGraphicFramePr>
          <p:cNvPr id="199" name="Google Shape;199;p40"/>
          <p:cNvGraphicFramePr/>
          <p:nvPr>
            <p:extLst>
              <p:ext uri="{D42A27DB-BD31-4B8C-83A1-F6EECF244321}">
                <p14:modId xmlns:p14="http://schemas.microsoft.com/office/powerpoint/2010/main" val="3072533122"/>
              </p:ext>
            </p:extLst>
          </p:nvPr>
        </p:nvGraphicFramePr>
        <p:xfrm>
          <a:off x="952500" y="1897775"/>
          <a:ext cx="7239000" cy="2196950"/>
        </p:xfrm>
        <a:graphic>
          <a:graphicData uri="http://schemas.openxmlformats.org/drawingml/2006/table">
            <a:tbl>
              <a:tblPr>
                <a:noFill/>
                <a:tableStyleId>{E099BBEC-C64B-4CD6-9D29-9A80A5BBAEBE}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Windows 10</a:t>
                      </a: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Docker</a:t>
                      </a: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DBeaver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24.1.14</a:t>
                      </a: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PostgreSQL 15.4</a:t>
                      </a: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Что получилось</a:t>
            </a:r>
            <a:endParaRPr sz="3000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D408B26-9DA6-49FA-B9F0-C8B74D688502}"/>
              </a:ext>
            </a:extLst>
          </p:cNvPr>
          <p:cNvSpPr/>
          <p:nvPr/>
        </p:nvSpPr>
        <p:spPr>
          <a:xfrm>
            <a:off x="559981" y="1127050"/>
            <a:ext cx="8385545" cy="3838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</a:pPr>
            <a:r>
              <a:rPr lang="ru-RU" sz="18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Проблема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2281841-326B-48C5-A7A4-930784FD4AA5}"/>
              </a:ext>
            </a:extLst>
          </p:cNvPr>
          <p:cNvSpPr/>
          <p:nvPr/>
        </p:nvSpPr>
        <p:spPr>
          <a:xfrm>
            <a:off x="666306" y="1567930"/>
            <a:ext cx="6191693" cy="13100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</a:pPr>
            <a:r>
              <a:rPr lang="ru-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 БД хранятся банковские карты с различными атрибутами:</a:t>
            </a:r>
          </a:p>
          <a:p>
            <a:pPr marL="285750" lvl="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количество атрибутов каждой карты неизвестно</a:t>
            </a:r>
          </a:p>
          <a:p>
            <a:pPr marL="285750" lvl="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множества атрибутов у разных карт могут не пересекаться</a:t>
            </a:r>
          </a:p>
          <a:p>
            <a:pPr marL="285750" lvl="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состав атрибутов карты не статичен и может изменяться.</a:t>
            </a:r>
          </a:p>
          <a:p>
            <a:pPr lvl="0">
              <a:lnSpc>
                <a:spcPct val="115000"/>
              </a:lnSpc>
            </a:pPr>
            <a:r>
              <a:rPr lang="ru-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Требуется формировать динамические запросы вида: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44271AB-29DF-4A79-9017-B3EBADAE2DFB}"/>
              </a:ext>
            </a:extLst>
          </p:cNvPr>
          <p:cNvSpPr/>
          <p:nvPr/>
        </p:nvSpPr>
        <p:spPr>
          <a:xfrm>
            <a:off x="1034901" y="2935026"/>
            <a:ext cx="6191693" cy="20332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</a:pPr>
            <a:r>
              <a:rPr lang="ru-RU" sz="1000" dirty="0">
                <a:solidFill>
                  <a:schemeClr val="dk1"/>
                </a:solidFill>
                <a:latin typeface="Courier New" panose="02070309020205020404" pitchFamily="49" charset="0"/>
                <a:ea typeface="Roboto"/>
                <a:cs typeface="Courier New" panose="02070309020205020404" pitchFamily="49" charset="0"/>
                <a:sym typeface="Roboto"/>
              </a:rPr>
              <a:t>верни все продукты, у которых </a:t>
            </a:r>
          </a:p>
          <a:p>
            <a:pPr lvl="0">
              <a:lnSpc>
                <a:spcPct val="115000"/>
              </a:lnSpc>
            </a:pPr>
            <a:r>
              <a:rPr lang="ru-RU" sz="1000" b="1" dirty="0">
                <a:solidFill>
                  <a:schemeClr val="dk1"/>
                </a:solidFill>
                <a:latin typeface="Courier New" panose="02070309020205020404" pitchFamily="49" charset="0"/>
                <a:ea typeface="Roboto"/>
                <a:cs typeface="Courier New" panose="02070309020205020404" pitchFamily="49" charset="0"/>
                <a:sym typeface="Roboto"/>
              </a:rPr>
              <a:t>код продукта </a:t>
            </a:r>
            <a:r>
              <a:rPr lang="ru-RU" sz="1000" dirty="0">
                <a:solidFill>
                  <a:schemeClr val="dk1"/>
                </a:solidFill>
                <a:latin typeface="Courier New" panose="02070309020205020404" pitchFamily="49" charset="0"/>
                <a:ea typeface="Roboto"/>
                <a:cs typeface="Courier New" panose="02070309020205020404" pitchFamily="49" charset="0"/>
                <a:sym typeface="Roboto"/>
              </a:rPr>
              <a:t>= </a:t>
            </a:r>
            <a:r>
              <a:rPr lang="en-US" sz="1000" dirty="0">
                <a:solidFill>
                  <a:schemeClr val="dk1"/>
                </a:solidFill>
                <a:latin typeface="Courier New" panose="02070309020205020404" pitchFamily="49" charset="0"/>
                <a:ea typeface="Roboto"/>
                <a:cs typeface="Courier New" panose="02070309020205020404" pitchFamily="49" charset="0"/>
                <a:sym typeface="Roboto"/>
              </a:rPr>
              <a:t>code1</a:t>
            </a:r>
            <a:endParaRPr lang="ru-RU" sz="1000" dirty="0">
              <a:solidFill>
                <a:schemeClr val="dk1"/>
              </a:solidFill>
              <a:latin typeface="Courier New" panose="02070309020205020404" pitchFamily="49" charset="0"/>
              <a:ea typeface="Roboto"/>
              <a:cs typeface="Courier New" panose="02070309020205020404" pitchFamily="49" charset="0"/>
              <a:sym typeface="Roboto"/>
            </a:endParaRPr>
          </a:p>
          <a:p>
            <a:pPr lvl="0">
              <a:lnSpc>
                <a:spcPct val="115000"/>
              </a:lnSpc>
            </a:pPr>
            <a:r>
              <a:rPr lang="ru-RU" sz="1000" dirty="0">
                <a:solidFill>
                  <a:schemeClr val="dk1"/>
                </a:solidFill>
                <a:latin typeface="Courier New" panose="02070309020205020404" pitchFamily="49" charset="0"/>
                <a:ea typeface="Roboto"/>
                <a:cs typeface="Courier New" panose="02070309020205020404" pitchFamily="49" charset="0"/>
                <a:sym typeface="Roboto"/>
              </a:rPr>
              <a:t>Или</a:t>
            </a:r>
          </a:p>
          <a:p>
            <a:pPr lvl="0">
              <a:lnSpc>
                <a:spcPct val="115000"/>
              </a:lnSpc>
            </a:pPr>
            <a:r>
              <a:rPr lang="ru-RU" sz="1000" b="1" dirty="0">
                <a:solidFill>
                  <a:schemeClr val="dk1"/>
                </a:solidFill>
                <a:latin typeface="Courier New" panose="02070309020205020404" pitchFamily="49" charset="0"/>
                <a:ea typeface="Roboto"/>
                <a:cs typeface="Courier New" panose="02070309020205020404" pitchFamily="49" charset="0"/>
                <a:sym typeface="Roboto"/>
              </a:rPr>
              <a:t>код продукта </a:t>
            </a:r>
            <a:r>
              <a:rPr lang="ru-RU" sz="1000" dirty="0">
                <a:solidFill>
                  <a:schemeClr val="dk1"/>
                </a:solidFill>
                <a:latin typeface="Courier New" panose="02070309020205020404" pitchFamily="49" charset="0"/>
                <a:ea typeface="Roboto"/>
                <a:cs typeface="Courier New" panose="02070309020205020404" pitchFamily="49" charset="0"/>
                <a:sym typeface="Roboto"/>
              </a:rPr>
              <a:t>= </a:t>
            </a:r>
            <a:r>
              <a:rPr lang="en-US" sz="1000" dirty="0">
                <a:solidFill>
                  <a:schemeClr val="dk1"/>
                </a:solidFill>
                <a:latin typeface="Courier New" panose="02070309020205020404" pitchFamily="49" charset="0"/>
                <a:ea typeface="Roboto"/>
                <a:cs typeface="Courier New" panose="02070309020205020404" pitchFamily="49" charset="0"/>
                <a:sym typeface="Roboto"/>
              </a:rPr>
              <a:t>code</a:t>
            </a:r>
            <a:r>
              <a:rPr lang="ru-RU" sz="1000" dirty="0">
                <a:solidFill>
                  <a:schemeClr val="dk1"/>
                </a:solidFill>
                <a:latin typeface="Courier New" panose="02070309020205020404" pitchFamily="49" charset="0"/>
                <a:ea typeface="Roboto"/>
                <a:cs typeface="Courier New" panose="02070309020205020404" pitchFamily="49" charset="0"/>
                <a:sym typeface="Roboto"/>
              </a:rPr>
              <a:t>2</a:t>
            </a:r>
          </a:p>
          <a:p>
            <a:pPr lvl="0">
              <a:lnSpc>
                <a:spcPct val="115000"/>
              </a:lnSpc>
            </a:pPr>
            <a:r>
              <a:rPr lang="ru-RU" sz="1000" dirty="0">
                <a:solidFill>
                  <a:schemeClr val="dk1"/>
                </a:solidFill>
                <a:latin typeface="Courier New" panose="02070309020205020404" pitchFamily="49" charset="0"/>
                <a:ea typeface="Roboto"/>
                <a:cs typeface="Courier New" panose="02070309020205020404" pitchFamily="49" charset="0"/>
                <a:sym typeface="Roboto"/>
              </a:rPr>
              <a:t>Или</a:t>
            </a:r>
          </a:p>
          <a:p>
            <a:pPr lvl="0">
              <a:lnSpc>
                <a:spcPct val="115000"/>
              </a:lnSpc>
            </a:pPr>
            <a:r>
              <a:rPr lang="ru-RU" sz="1000" dirty="0">
                <a:solidFill>
                  <a:schemeClr val="dk1"/>
                </a:solidFill>
                <a:latin typeface="Courier New" panose="02070309020205020404" pitchFamily="49" charset="0"/>
                <a:ea typeface="Roboto"/>
                <a:cs typeface="Courier New" panose="02070309020205020404" pitchFamily="49" charset="0"/>
                <a:sym typeface="Roboto"/>
              </a:rPr>
              <a:t>…</a:t>
            </a:r>
          </a:p>
          <a:p>
            <a:pPr lvl="0">
              <a:lnSpc>
                <a:spcPct val="115000"/>
              </a:lnSpc>
            </a:pPr>
            <a:r>
              <a:rPr lang="ru-RU" sz="1000" dirty="0">
                <a:solidFill>
                  <a:schemeClr val="dk1"/>
                </a:solidFill>
                <a:latin typeface="Courier New" panose="02070309020205020404" pitchFamily="49" charset="0"/>
                <a:ea typeface="Roboto"/>
                <a:cs typeface="Courier New" panose="02070309020205020404" pitchFamily="49" charset="0"/>
                <a:sym typeface="Roboto"/>
              </a:rPr>
              <a:t>Или</a:t>
            </a:r>
          </a:p>
          <a:p>
            <a:pPr lvl="0">
              <a:lnSpc>
                <a:spcPct val="115000"/>
              </a:lnSpc>
            </a:pPr>
            <a:r>
              <a:rPr lang="ru-RU" sz="1000" b="1" dirty="0">
                <a:solidFill>
                  <a:schemeClr val="dk1"/>
                </a:solidFill>
                <a:latin typeface="Courier New" panose="02070309020205020404" pitchFamily="49" charset="0"/>
                <a:ea typeface="Roboto"/>
                <a:cs typeface="Courier New" panose="02070309020205020404" pitchFamily="49" charset="0"/>
                <a:sym typeface="Roboto"/>
              </a:rPr>
              <a:t>атрибуты продукта </a:t>
            </a:r>
            <a:r>
              <a:rPr lang="en-US" sz="1000" dirty="0">
                <a:solidFill>
                  <a:schemeClr val="dk1"/>
                </a:solidFill>
                <a:latin typeface="Courier New" panose="02070309020205020404" pitchFamily="49" charset="0"/>
                <a:ea typeface="Roboto"/>
                <a:cs typeface="Courier New" panose="02070309020205020404" pitchFamily="49" charset="0"/>
                <a:sym typeface="Roboto"/>
              </a:rPr>
              <a:t>in (set1)</a:t>
            </a:r>
          </a:p>
          <a:p>
            <a:pPr lvl="0">
              <a:lnSpc>
                <a:spcPct val="115000"/>
              </a:lnSpc>
            </a:pPr>
            <a:r>
              <a:rPr lang="ru-RU" sz="1000" dirty="0">
                <a:solidFill>
                  <a:schemeClr val="dk1"/>
                </a:solidFill>
                <a:latin typeface="Courier New" panose="02070309020205020404" pitchFamily="49" charset="0"/>
                <a:ea typeface="Roboto"/>
                <a:cs typeface="Courier New" panose="02070309020205020404" pitchFamily="49" charset="0"/>
                <a:sym typeface="Roboto"/>
              </a:rPr>
              <a:t>Или </a:t>
            </a:r>
          </a:p>
          <a:p>
            <a:pPr lvl="0">
              <a:lnSpc>
                <a:spcPct val="115000"/>
              </a:lnSpc>
            </a:pPr>
            <a:r>
              <a:rPr lang="ru-RU" sz="1000" b="1" dirty="0">
                <a:solidFill>
                  <a:schemeClr val="dk1"/>
                </a:solidFill>
                <a:latin typeface="Courier New" panose="02070309020205020404" pitchFamily="49" charset="0"/>
                <a:ea typeface="Roboto"/>
                <a:cs typeface="Courier New" panose="02070309020205020404" pitchFamily="49" charset="0"/>
                <a:sym typeface="Roboto"/>
              </a:rPr>
              <a:t>атрибуты продукта </a:t>
            </a:r>
            <a:r>
              <a:rPr lang="en-US" sz="1000" dirty="0">
                <a:solidFill>
                  <a:schemeClr val="dk1"/>
                </a:solidFill>
                <a:latin typeface="Courier New" panose="02070309020205020404" pitchFamily="49" charset="0"/>
                <a:ea typeface="Roboto"/>
                <a:cs typeface="Courier New" panose="02070309020205020404" pitchFamily="49" charset="0"/>
                <a:sym typeface="Roboto"/>
              </a:rPr>
              <a:t>in (set2)</a:t>
            </a:r>
            <a:endParaRPr lang="ru-RU" sz="1000" dirty="0">
              <a:solidFill>
                <a:schemeClr val="dk1"/>
              </a:solidFill>
              <a:latin typeface="Courier New" panose="02070309020205020404" pitchFamily="49" charset="0"/>
              <a:ea typeface="Roboto"/>
              <a:cs typeface="Courier New" panose="02070309020205020404" pitchFamily="49" charset="0"/>
              <a:sym typeface="Roboto"/>
            </a:endParaRPr>
          </a:p>
          <a:p>
            <a:pPr lvl="0">
              <a:lnSpc>
                <a:spcPct val="115000"/>
              </a:lnSpc>
            </a:pPr>
            <a:r>
              <a:rPr lang="ru-RU" sz="1000" dirty="0">
                <a:solidFill>
                  <a:schemeClr val="dk1"/>
                </a:solidFill>
                <a:latin typeface="Courier New" panose="02070309020205020404" pitchFamily="49" charset="0"/>
                <a:ea typeface="Roboto"/>
                <a:cs typeface="Courier New" panose="02070309020205020404" pitchFamily="49" charset="0"/>
                <a:sym typeface="Roboto"/>
              </a:rPr>
              <a:t>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Что получилось</a:t>
            </a:r>
            <a:endParaRPr sz="3000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D408B26-9DA6-49FA-B9F0-C8B74D688502}"/>
              </a:ext>
            </a:extLst>
          </p:cNvPr>
          <p:cNvSpPr/>
          <p:nvPr/>
        </p:nvSpPr>
        <p:spPr>
          <a:xfrm>
            <a:off x="559981" y="1127050"/>
            <a:ext cx="8385545" cy="3838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</a:pPr>
            <a:r>
              <a:rPr lang="ru-RU" sz="18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Структура таблиц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2281841-326B-48C5-A7A4-930784FD4AA5}"/>
              </a:ext>
            </a:extLst>
          </p:cNvPr>
          <p:cNvSpPr/>
          <p:nvPr/>
        </p:nvSpPr>
        <p:spPr>
          <a:xfrm>
            <a:off x="666306" y="1567930"/>
            <a:ext cx="6191693" cy="318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</a:pPr>
            <a:r>
              <a:rPr lang="ru-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Связи организованы на уровне приложения.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3E4E7AD-0C6A-4DB6-990B-35712E6A0F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306" y="1838753"/>
            <a:ext cx="6107187" cy="3017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352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Что получилось</a:t>
            </a:r>
            <a:endParaRPr sz="3000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D408B26-9DA6-49FA-B9F0-C8B74D688502}"/>
              </a:ext>
            </a:extLst>
          </p:cNvPr>
          <p:cNvSpPr/>
          <p:nvPr/>
        </p:nvSpPr>
        <p:spPr>
          <a:xfrm>
            <a:off x="559981" y="1127050"/>
            <a:ext cx="8385545" cy="3838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</a:pPr>
            <a:r>
              <a:rPr lang="ru-RU" sz="18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Пример данных банковских карт и их атрибутов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190BF98-4F00-49EF-9E67-9E9C49891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8177" y="1637178"/>
            <a:ext cx="5267349" cy="289616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22C0E7E-7B60-4FC8-8D1B-C1CEC502CD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209" y="1637178"/>
            <a:ext cx="3298344" cy="11715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824470F-6664-40A5-BB90-43D13A7178F3}"/>
              </a:ext>
            </a:extLst>
          </p:cNvPr>
          <p:cNvSpPr txBox="1"/>
          <p:nvPr/>
        </p:nvSpPr>
        <p:spPr>
          <a:xfrm>
            <a:off x="1282996" y="2839040"/>
            <a:ext cx="11737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Таблица </a:t>
            </a:r>
            <a:r>
              <a:rPr lang="en-US" sz="1000" dirty="0"/>
              <a:t>Product</a:t>
            </a:r>
            <a:endParaRPr lang="ru-RU"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C0FB15-03B7-4AC1-B4FA-32D4729BA067}"/>
              </a:ext>
            </a:extLst>
          </p:cNvPr>
          <p:cNvSpPr txBox="1"/>
          <p:nvPr/>
        </p:nvSpPr>
        <p:spPr>
          <a:xfrm>
            <a:off x="5767521" y="4635172"/>
            <a:ext cx="12089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Таблица </a:t>
            </a:r>
            <a:r>
              <a:rPr lang="en-US" sz="1000" dirty="0"/>
              <a:t>Attribute</a:t>
            </a:r>
            <a:endParaRPr lang="ru-RU" sz="1000" dirty="0"/>
          </a:p>
        </p:txBody>
      </p:sp>
    </p:spTree>
    <p:extLst>
      <p:ext uri="{BB962C8B-B14F-4D97-AF65-F5344CB8AC3E}">
        <p14:creationId xmlns:p14="http://schemas.microsoft.com/office/powerpoint/2010/main" val="513106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Что получилось</a:t>
            </a:r>
            <a:endParaRPr sz="3000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D408B26-9DA6-49FA-B9F0-C8B74D688502}"/>
              </a:ext>
            </a:extLst>
          </p:cNvPr>
          <p:cNvSpPr/>
          <p:nvPr/>
        </p:nvSpPr>
        <p:spPr>
          <a:xfrm>
            <a:off x="559981" y="1127050"/>
            <a:ext cx="8385545" cy="3838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</a:pPr>
            <a:r>
              <a:rPr lang="ru-RU" sz="18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Предусловия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2281841-326B-48C5-A7A4-930784FD4AA5}"/>
              </a:ext>
            </a:extLst>
          </p:cNvPr>
          <p:cNvSpPr/>
          <p:nvPr/>
        </p:nvSpPr>
        <p:spPr>
          <a:xfrm>
            <a:off x="666306" y="1567930"/>
            <a:ext cx="7584559" cy="10622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Индексов нет.</a:t>
            </a:r>
          </a:p>
          <a:p>
            <a:pPr marL="285750" lvl="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Каждый атрибут может принимать либо строковое значение, либо массив. </a:t>
            </a:r>
          </a:p>
          <a:p>
            <a:pPr marL="285750" lvl="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Заполнение «с нуля» и последующее обновление данных происходит через Кафку.</a:t>
            </a:r>
            <a:endParaRPr lang="en-US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85750" lvl="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Обновление данных происходит не часто.</a:t>
            </a:r>
          </a:p>
        </p:txBody>
      </p:sp>
    </p:spTree>
    <p:extLst>
      <p:ext uri="{BB962C8B-B14F-4D97-AF65-F5344CB8AC3E}">
        <p14:creationId xmlns:p14="http://schemas.microsoft.com/office/powerpoint/2010/main" val="35515891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Что получилось</a:t>
            </a:r>
            <a:endParaRPr sz="3000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D408B26-9DA6-49FA-B9F0-C8B74D688502}"/>
              </a:ext>
            </a:extLst>
          </p:cNvPr>
          <p:cNvSpPr/>
          <p:nvPr/>
        </p:nvSpPr>
        <p:spPr>
          <a:xfrm>
            <a:off x="559981" y="1127050"/>
            <a:ext cx="8385545" cy="3838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</a:pPr>
            <a:r>
              <a:rPr lang="ru-RU" sz="18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Решение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2281841-326B-48C5-A7A4-930784FD4AA5}"/>
              </a:ext>
            </a:extLst>
          </p:cNvPr>
          <p:cNvSpPr/>
          <p:nvPr/>
        </p:nvSpPr>
        <p:spPr>
          <a:xfrm>
            <a:off x="666306" y="1567930"/>
            <a:ext cx="7811387" cy="205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</a:pPr>
            <a:r>
              <a:rPr lang="ru-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Выполнить такое </a:t>
            </a:r>
            <a:r>
              <a:rPr lang="ru-RU" dirty="0"/>
              <a:t>преобразование данных, при котором строкового представление атрибутов трансформируется в колоночное.</a:t>
            </a:r>
          </a:p>
          <a:p>
            <a:pPr lvl="0">
              <a:lnSpc>
                <a:spcPct val="115000"/>
              </a:lnSpc>
            </a:pPr>
            <a:endParaRPr lang="ru-RU" dirty="0"/>
          </a:p>
          <a:p>
            <a:pPr lvl="0">
              <a:lnSpc>
                <a:spcPct val="115000"/>
              </a:lnSpc>
            </a:pPr>
            <a:r>
              <a:rPr lang="ru-RU" dirty="0"/>
              <a:t>Такое преобразование данных в БД называется </a:t>
            </a:r>
            <a:r>
              <a:rPr lang="en-US" dirty="0"/>
              <a:t>PIVOT</a:t>
            </a:r>
            <a:r>
              <a:rPr lang="ru-RU" dirty="0"/>
              <a:t>-преобразованием</a:t>
            </a:r>
            <a:r>
              <a:rPr lang="en-US" dirty="0"/>
              <a:t> </a:t>
            </a:r>
            <a:r>
              <a:rPr lang="ru-RU" dirty="0"/>
              <a:t>(от англ. </a:t>
            </a:r>
            <a:r>
              <a:rPr lang="ru-RU" i="1" dirty="0" err="1"/>
              <a:t>pivot</a:t>
            </a:r>
            <a:r>
              <a:rPr lang="ru-RU" dirty="0"/>
              <a:t> - вращение, поворот).</a:t>
            </a:r>
          </a:p>
          <a:p>
            <a:pPr lvl="0">
              <a:lnSpc>
                <a:spcPct val="115000"/>
              </a:lnSpc>
            </a:pPr>
            <a:endParaRPr lang="ru-RU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0">
              <a:lnSpc>
                <a:spcPct val="115000"/>
              </a:lnSpc>
            </a:pPr>
            <a:r>
              <a:rPr lang="en-US" b="1" dirty="0"/>
              <a:t>PIVOT-</a:t>
            </a:r>
            <a:r>
              <a:rPr lang="ru-RU" b="1" dirty="0"/>
              <a:t>преобразование в БД </a:t>
            </a:r>
            <a:r>
              <a:rPr lang="ru-RU" dirty="0"/>
              <a:t>- это техника трансформации данных, при которой значения строк преобразуются в заголовки столбцов, создавая сводную таблицу (</a:t>
            </a:r>
            <a:r>
              <a:rPr lang="en-US" dirty="0"/>
              <a:t>pivot table).</a:t>
            </a:r>
            <a:endParaRPr lang="ru-RU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2746475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Что получилось</a:t>
            </a:r>
            <a:endParaRPr sz="3000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D408B26-9DA6-49FA-B9F0-C8B74D688502}"/>
              </a:ext>
            </a:extLst>
          </p:cNvPr>
          <p:cNvSpPr/>
          <p:nvPr/>
        </p:nvSpPr>
        <p:spPr>
          <a:xfrm>
            <a:off x="559981" y="1127050"/>
            <a:ext cx="8385545" cy="3838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</a:pPr>
            <a:r>
              <a:rPr lang="en-US" sz="18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PIVOT-</a:t>
            </a:r>
            <a:r>
              <a:rPr lang="ru-RU" sz="18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преобразования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2281841-326B-48C5-A7A4-930784FD4AA5}"/>
              </a:ext>
            </a:extLst>
          </p:cNvPr>
          <p:cNvSpPr/>
          <p:nvPr/>
        </p:nvSpPr>
        <p:spPr>
          <a:xfrm>
            <a:off x="666306" y="1567930"/>
            <a:ext cx="7811387" cy="986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</a:pPr>
            <a:r>
              <a:rPr lang="ru-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Выделяют 3 основных подхода: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Использование CASE WHEN конструкций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Применение функции CROSSTAB из расширения </a:t>
            </a:r>
            <a:r>
              <a:rPr lang="ru-RU" dirty="0" err="1"/>
              <a:t>tablefunc</a:t>
            </a: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Построение сложных динамических запросов</a:t>
            </a:r>
            <a:endParaRPr lang="ru-RU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5358258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Что получилось</a:t>
            </a:r>
            <a:endParaRPr sz="3000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D408B26-9DA6-49FA-B9F0-C8B74D688502}"/>
              </a:ext>
            </a:extLst>
          </p:cNvPr>
          <p:cNvSpPr/>
          <p:nvPr/>
        </p:nvSpPr>
        <p:spPr>
          <a:xfrm>
            <a:off x="559981" y="1127050"/>
            <a:ext cx="8385545" cy="3838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</a:pPr>
            <a:r>
              <a:rPr lang="en-US" sz="18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PIVOT-</a:t>
            </a:r>
            <a:r>
              <a:rPr lang="ru-RU" sz="18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преобразования</a:t>
            </a:r>
            <a:r>
              <a:rPr lang="en-US" sz="18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lang="ru-RU" sz="18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Анализ разных подходов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2301CD3-B081-4876-9BFB-37EF33D01B2D}"/>
              </a:ext>
            </a:extLst>
          </p:cNvPr>
          <p:cNvSpPr/>
          <p:nvPr/>
        </p:nvSpPr>
        <p:spPr>
          <a:xfrm>
            <a:off x="538524" y="1829527"/>
            <a:ext cx="403347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hlinkClick r:id="rId3"/>
              </a:rPr>
              <a:t>https://github.com/mari-otus/postgreSQL_course</a:t>
            </a:r>
            <a:endParaRPr lang="ru-RU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EA769F3-AB4C-42DC-8DDD-9C1A26767010}"/>
              </a:ext>
            </a:extLst>
          </p:cNvPr>
          <p:cNvSpPr/>
          <p:nvPr/>
        </p:nvSpPr>
        <p:spPr>
          <a:xfrm>
            <a:off x="538524" y="1510873"/>
            <a:ext cx="390203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Детальный анализ приведён в репозитории:</a:t>
            </a:r>
          </a:p>
        </p:txBody>
      </p:sp>
    </p:spTree>
    <p:extLst>
      <p:ext uri="{BB962C8B-B14F-4D97-AF65-F5344CB8AC3E}">
        <p14:creationId xmlns:p14="http://schemas.microsoft.com/office/powerpoint/2010/main" val="8921823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 dirty="0"/>
              <a:t>Выводы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</p:txBody>
      </p:sp>
      <p:graphicFrame>
        <p:nvGraphicFramePr>
          <p:cNvPr id="213" name="Google Shape;213;p42"/>
          <p:cNvGraphicFramePr/>
          <p:nvPr>
            <p:extLst>
              <p:ext uri="{D42A27DB-BD31-4B8C-83A1-F6EECF244321}">
                <p14:modId xmlns:p14="http://schemas.microsoft.com/office/powerpoint/2010/main" val="2625125029"/>
              </p:ext>
            </p:extLst>
          </p:nvPr>
        </p:nvGraphicFramePr>
        <p:xfrm>
          <a:off x="952500" y="1718400"/>
          <a:ext cx="7323163" cy="3159640"/>
        </p:xfrm>
        <a:graphic>
          <a:graphicData uri="http://schemas.openxmlformats.org/drawingml/2006/table">
            <a:tbl>
              <a:tblPr>
                <a:noFill/>
                <a:tableStyleId>{E099BBEC-C64B-4CD6-9D29-9A80A5BBAEBE}</a:tableStyleId>
              </a:tblPr>
              <a:tblGrid>
                <a:gridCol w="573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 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Поставленная цель была достигнута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– 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удалось построить оптимальный запрос.</a:t>
                      </a:r>
                      <a:endParaRPr sz="1600" dirty="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Задачи, которые вызвали трудности: подбор нужных агрегатных функций; поиск более оптимального преобразования, отличного от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crosstab 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case when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;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подбор нужных индексов. </a:t>
                      </a:r>
                      <a:endParaRPr sz="1600" dirty="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Проект занял 3 недели – по 1-2 часа в день.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Проект был очень полезен, ставлю оценку 10, т.к. решалась конкретная рабочая задача.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43"/>
          <p:cNvSpPr txBox="1"/>
          <p:nvPr/>
        </p:nvSpPr>
        <p:spPr>
          <a:xfrm>
            <a:off x="387050" y="1844625"/>
            <a:ext cx="7584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43"/>
          <p:cNvSpPr txBox="1"/>
          <p:nvPr/>
        </p:nvSpPr>
        <p:spPr>
          <a:xfrm>
            <a:off x="1214696" y="3061975"/>
            <a:ext cx="1927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есть вопросы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43"/>
          <p:cNvSpPr txBox="1"/>
          <p:nvPr/>
        </p:nvSpPr>
        <p:spPr>
          <a:xfrm>
            <a:off x="4934996" y="3061975"/>
            <a:ext cx="2145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43"/>
          <p:cNvSpPr txBox="1"/>
          <p:nvPr/>
        </p:nvSpPr>
        <p:spPr>
          <a:xfrm>
            <a:off x="7230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43"/>
          <p:cNvSpPr txBox="1"/>
          <p:nvPr/>
        </p:nvSpPr>
        <p:spPr>
          <a:xfrm>
            <a:off x="44433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– 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4"/>
          <p:cNvSpPr txBox="1">
            <a:spLocks noGrp="1"/>
          </p:cNvSpPr>
          <p:nvPr>
            <p:ph type="title" idx="4294967295"/>
          </p:nvPr>
        </p:nvSpPr>
        <p:spPr>
          <a:xfrm>
            <a:off x="629000" y="1932525"/>
            <a:ext cx="7295100" cy="19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0">
                <a:solidFill>
                  <a:schemeClr val="lt1"/>
                </a:solidFill>
              </a:rPr>
              <a:t>Спасибо за внимание!</a:t>
            </a:r>
            <a:endParaRPr sz="5000">
              <a:solidFill>
                <a:schemeClr val="lt1"/>
              </a:solidFill>
            </a:endParaRPr>
          </a:p>
        </p:txBody>
      </p:sp>
      <p:pic>
        <p:nvPicPr>
          <p:cNvPr id="236" name="Google Shape;236;p44" title="marker-graduating-ca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7300" y="231871"/>
            <a:ext cx="2270875" cy="304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45" title="ролик_об_отусе_blu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498</TotalTime>
  <Words>465</Words>
  <Application>Microsoft Office PowerPoint</Application>
  <PresentationFormat>Экран (16:9)</PresentationFormat>
  <Paragraphs>97</Paragraphs>
  <Slides>17</Slides>
  <Notes>17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17</vt:i4>
      </vt:variant>
    </vt:vector>
  </HeadingPairs>
  <TitlesOfParts>
    <vt:vector size="24" baseType="lpstr">
      <vt:lpstr>Arial</vt:lpstr>
      <vt:lpstr>Courier New</vt:lpstr>
      <vt:lpstr>Roboto</vt:lpstr>
      <vt:lpstr>Roboto Medium</vt:lpstr>
      <vt:lpstr>Светлая тема</vt:lpstr>
      <vt:lpstr>Светлая тема</vt:lpstr>
      <vt:lpstr>Светлая тема</vt:lpstr>
      <vt:lpstr>Презентация PowerPoint</vt:lpstr>
      <vt:lpstr>Меня хорошо видно &amp; слышно?</vt:lpstr>
      <vt:lpstr>Защита проекта Тема: Построение PIVOT-запроса в PostgreSQL для неопределенного количества столбцов и оптимизация запросов к полученному PIVOT-преобразованию    </vt:lpstr>
      <vt:lpstr>План защиты</vt:lpstr>
      <vt:lpstr>Презентация PowerPoint</vt:lpstr>
      <vt:lpstr>Какие технологии использовались </vt:lpstr>
      <vt:lpstr>Что получилось</vt:lpstr>
      <vt:lpstr>Что получилось</vt:lpstr>
      <vt:lpstr>Что получилось</vt:lpstr>
      <vt:lpstr>Что получилось</vt:lpstr>
      <vt:lpstr>Что получилось</vt:lpstr>
      <vt:lpstr>Что получилось</vt:lpstr>
      <vt:lpstr>Что получилось</vt:lpstr>
      <vt:lpstr>Выводы </vt:lpstr>
      <vt:lpstr>Презентация PowerPoint</vt:lpstr>
      <vt:lpstr>Спасибо за внимание!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Тронина Мария Николаевна</cp:lastModifiedBy>
  <cp:revision>23</cp:revision>
  <dcterms:modified xsi:type="dcterms:W3CDTF">2026-02-02T14:04:31Z</dcterms:modified>
</cp:coreProperties>
</file>